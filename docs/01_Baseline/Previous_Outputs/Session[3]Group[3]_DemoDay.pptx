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1"/>
    <p:sldMasterId id="2147483694" r:id="rId2"/>
    <p:sldMasterId id="2147483698" r:id="rId3"/>
  </p:sldMasterIdLst>
  <p:notesMasterIdLst>
    <p:notesMasterId r:id="rId11"/>
  </p:notesMasterIdLst>
  <p:sldIdLst>
    <p:sldId id="2147476296" r:id="rId4"/>
    <p:sldId id="2147476008" r:id="rId5"/>
    <p:sldId id="280" r:id="rId6"/>
    <p:sldId id="2147476298" r:id="rId7"/>
    <p:sldId id="2147475850" r:id="rId8"/>
    <p:sldId id="295" r:id="rId9"/>
    <p:sldId id="1676987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7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E254E-39F1-428A-9FB8-3B54E142506D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08B26-6D6C-4652-AD00-C48E0C92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476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 everyone. Today, our group is presenting VIT SMART, a smart training feedback system for muscle fatigue.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08B26-6D6C-4652-AD00-C48E0C92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10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Stop/continue exercise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on feeling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 lead to overtraining, injury risk, or ineffective training.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lack of data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users need clearly feedback that helps them make decisions during exercise.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08B26-6D6C-4652-AD00-C48E0C92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22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08B26-6D6C-4652-AD00-C48E0C92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939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Our key design decision is to turn raw EMG signals into a stable three-state output, so users do not need to understand complex waveforms and can quickly get suggestion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08B26-6D6C-4652-AD00-C48E0C92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821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3E03-0240-58FF-48A5-75CEA901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AC4F3E-2621-D734-64B2-5A6218B66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23141B-6C92-CF0A-0FF8-7CE674E8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First, users did not understand raw EMG values. They saw the data but do not know what to do with them.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users wanted feedback that was quick to read during exercise. 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users cared more about “what should I do next?” than Professional </a:t>
            </a:r>
            <a:r>
              <a:rPr lang="en-US" altLang="zh-CN" dirty="0" err="1"/>
              <a:t>analysiswhich</a:t>
            </a:r>
            <a:r>
              <a:rPr lang="en-US" altLang="zh-CN" dirty="0"/>
              <a:t> are difficult to understand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0A3B3-926F-5E42-6FB5-2A7C6956E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41AD82-60BD-48B8-B293-CB322BD7474C}" type="slidenum">
              <a:rPr kumimoji="0" lang="LID4096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LID4096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274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EMG signals can be affected by sensor position, body movement, and different exercise types.</a:t>
            </a:r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more personalize </a:t>
            </a:r>
            <a:r>
              <a:rPr lang="zh-CN" altLang="en-US" dirty="0"/>
              <a:t>。 </a:t>
            </a:r>
            <a:r>
              <a:rPr lang="en-US" altLang="zh-CN" dirty="0"/>
              <a:t>Eg</a:t>
            </a:r>
            <a:r>
              <a:rPr lang="zh-CN" altLang="en-US" dirty="0"/>
              <a:t>，</a:t>
            </a:r>
            <a:r>
              <a:rPr lang="en-US" altLang="zh-CN" dirty="0"/>
              <a:t>the system could adjust based on the user’s exercise type, training history, and personal fatigue pattern.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We would also test with more real users and more workout movements.</a:t>
            </a:r>
          </a:p>
          <a:p>
            <a:endParaRPr lang="en-US" altLang="zh-CN" dirty="0"/>
          </a:p>
          <a:p>
            <a:r>
              <a:rPr lang="en-US" altLang="zh-CN" dirty="0"/>
              <a:t>What we learn</a:t>
            </a:r>
            <a:r>
              <a:rPr lang="zh-CN" altLang="en-US" dirty="0"/>
              <a:t>： </a:t>
            </a:r>
            <a:r>
              <a:rPr lang="en-US" altLang="zh-CN" dirty="0"/>
              <a:t>X fitness data</a:t>
            </a:r>
            <a:r>
              <a:rPr lang="zh-CN" altLang="en-US" dirty="0"/>
              <a:t>， </a:t>
            </a:r>
            <a:r>
              <a:rPr lang="en-US" altLang="zh-CN" dirty="0"/>
              <a:t>but more advice or plan hat is easy to understand and useful for action.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08B26-6D6C-4652-AD00-C48E0C92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075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Based on the MOA algorithm, we calculate the average maximum value of the dataset. </a:t>
            </a:r>
            <a:r>
              <a:rPr lang="en-US" altLang="zh-CN"/>
              <a:t>We set 30% of this value as the boundary between normal and high load, and 90% as the boundary between high load and fatigue risk.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08B26-6D6C-4652-AD00-C48E0C92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62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1DF4E-35FC-2E8A-21BB-DEC7C94D3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42C6E4-1077-4E08-34A9-97DB3C369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6C6F8E-8852-60C8-EB77-3CAB3F1A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AC564-583F-9719-0BB2-8FB5C172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54B960-6D39-7509-3C4E-5ED6DCDD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55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52D50-E286-6123-2B4D-F733665F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58ED08-AFC9-93FD-EC65-E34D21C50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C6E603-E61E-31A7-4E8F-FE594A52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59F62C-0C04-69D5-7DE7-0FA753E8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FC581-8A47-F8F8-E044-A3E23BE1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62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91FC3-C9C1-1219-E7D4-26FAAB5D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D79671-C09D-7961-510A-C875456FB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F207D-BF31-03BC-33C5-E264DBF2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66FC7-6A36-2304-18C8-7964A177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69E97-5A48-3531-BA95-F06183E7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54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7E5DE-9A95-3770-B450-117EF255F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9BF3CB-52A6-E52C-9294-4A6D9E333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471934-2009-B3A2-7C5D-4F3250EDE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39876F-69B4-4CBB-781F-99FB8CB0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B85F42-FB66-C0E6-54EC-68FE2608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85A738-8505-5BF5-AA3F-3BAA1D7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25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BCDE7-9B5A-96C9-1583-D46083BA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2E74AC-F01B-4D88-9CED-8BAE47D6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F804D2-590A-E542-7487-C5A0003F5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2DDB8D-0B66-0B55-89C5-EC09F888C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C628F8-3FCA-5A88-9137-9829D8BA8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452322-C7A0-BB29-4DF5-B7FCC059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4E4060-933B-515E-787D-A88089CC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B9CC0E-DC12-F6BC-8601-8338A3A1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64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DB5BC-4A85-C351-7362-22290E44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6E2FC9-CD5E-41C7-35D5-C5F73E7E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2A4F32-01E0-19FF-2895-D850102E6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9FEA24-EA06-4401-5343-E14D962F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77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DF79D7-F3AD-BF52-182F-CFFC04B3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62ACC7-6825-1272-F732-152FD1EC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ADCD1-0234-8C84-021E-4AD72DC0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13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5F6E5-A577-EB2B-1BF4-9794994C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EEDF64-3482-033B-6216-695AB96A6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44921C-7007-4207-F098-2FE5D6291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73D837-3EC7-1B4E-B10C-521F05C7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81F0CC-E6FD-8F8B-3ADD-062ADE7B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644F2D-89CD-71A2-665C-12B2DCD8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70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FC73E-2230-50D4-B62F-189302B6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330B6F-639E-DEAB-B590-A5328D36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A2197B-4334-8D18-E748-6F09CB2C8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16081D-D1E5-1621-1B0F-3A814A2E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B55140-1B2A-F269-D76B-C7041579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0BA292-B1A3-1CF0-2CA3-895F7D74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34D12-B6EB-4966-56D9-7ABAB275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BD4541-12AF-889D-95D8-2E6F96C47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DEA070-3B1B-0D0D-00EA-647782BA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A3D65-C143-4442-922E-E74A6F13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05A05-6F20-7AF0-67A4-26B42D96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18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CC2497-8FE1-2A34-5038-B89D14C0F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F6C31F-7EC1-C32A-1130-678467E05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71CC9-EC38-D1CA-6B16-88CE3805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34C74-3942-6069-5CC3-F8991730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2326B-FB15-0180-17A8-64CEC69C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227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621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09CCD-CB46-51E8-3748-F21B252EB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14D465-47F1-951F-BF0E-44785C5B1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A17FCC-23AF-F27B-2A0D-9ECBC2B75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257B5-6705-243F-2B10-EAEF72F1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5CC07-947C-FF4C-F4A6-DD2F5D77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06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4F6015-1E01-915F-B056-04FB2D1C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F47A4C-86D9-5796-A58C-E9BFC8BB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8FC2FE-4E54-5BB1-EB02-18BA9745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463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846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953C6-5B7A-D1EF-DBDF-D536678A5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333292-7FAC-D252-1A9D-8199676B1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49011-ECAB-55C5-2A5D-93020A25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A3DB1-D380-1602-3123-CAA4785C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680095-DD43-1776-B30B-4008291B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8166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CFD1E-92BA-448E-2F45-906416CD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5B0B7-C6A7-667D-AD2D-E4A0F1B6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23815-C0E7-2ADA-203A-F351DD6D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E962B-76A1-7B47-DD63-180EB86F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5F866-8D17-EDEB-652C-82EC6E9B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5793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12174-5C71-F555-5F21-5DCF3C0E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49650D-55C7-A034-7379-A8FA83F01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A5AFF-803C-62E2-DCB8-8316E654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5ECE8-0BC7-B692-9087-4ED1F5D4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DAB664-9EA2-98E3-BEA8-C183F953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93069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9D605-9BCA-1BDB-0D42-9CB13BE4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D11115-05FE-5578-1F45-CF26C5E9E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B458B4-FF00-D785-5814-4C653C9AA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B0A405-EAAC-103F-3AFE-5D7E8B26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85F5F-71AA-6CAD-3C01-BA3D154B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4139F0-EDB7-951A-71C2-A470F6AD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3654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22DA0-C9BE-615B-3899-B8B8DCAF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4C5B4-31A3-94C5-62A9-931D2164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C2AE8E-DDB4-C0E3-4474-BA212EA8C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B1E1AD-EE64-15DF-A5FE-1E8396CB2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24666E-B13A-47AD-E0F4-997CDE594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F2027F-465A-4173-1362-726A8763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E1A08F-E575-0A86-6891-412ABD04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2378F3-C0E7-7E0C-3D7B-EC7EBCB6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2095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0F439-7404-DE44-F862-E21DEFA4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32B218-3670-D584-5362-5D2547FA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14874E-09B1-6637-E9DF-C38C115B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BFA43B-0F0D-864D-8568-AF71A72C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8664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07537D-7A55-257E-D209-B5EDF216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7CB736-356D-B286-7D75-A7FDC761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00A29-B5F3-505D-DAF5-FE954612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6246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2E9D9-D611-2ABF-3DF8-761274AE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0F294-82A3-EBBE-1725-A681069D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48E1CE-0293-6EE8-A49D-91A39B9FD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BB7921-C7DD-3F02-D085-76F36DF1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581531-471B-EABB-438D-9DD97A36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86710B-B93B-E56D-DE33-81124E8A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74084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18BBA-DBC9-CBE9-A989-3D2474CD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39C1D5-3613-6DD3-BE69-8926DEDA8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2BB27E-F7C2-A6B1-C015-A919C96C2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919DE1-D51E-8F63-5491-63F6EEC3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2483F5-79B5-E13C-91C3-2DC273EF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2087A2-FC1D-B09A-0AF4-4C8B3079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3803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81653-34BF-C305-9BD0-55C5BE8B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EE93D9-05FC-C8BE-287A-38F91C46C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60BAE0-AB60-74B3-7AEF-364B926F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02267-B4E3-E59F-9C85-C645652F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18AAB4-6D23-8611-811C-5C90F67E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05313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C939D7-B505-4531-7CE5-7CBEB716E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68DB09-2059-3520-1DF6-BE16F098E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FD8D1-7879-1FB1-CF47-A202256F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F095B9-1467-9D69-8B96-6240D70F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53E279-682E-628E-321A-D320F5E1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670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1EA94D-0538-D9F9-2947-DF1CEDF3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47916-1D4E-FE03-9CF4-9DE922404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F55088-4FE8-9BE7-A1FB-348A6A764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A46AB-7F86-9790-99A2-6DE8AA989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AA1FA-F6E5-CAB8-0F26-657340B01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3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9F8547-EF91-443E-10E7-E6C70B3F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70EB42-C195-81A3-7745-EA84752B2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94FD34-2080-DCF1-FE2F-072CAFC60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7D1FF-8E2D-4F6B-9791-79F25DA0B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AF2F1E-0A80-4970-9D1C-0EA6AAE63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C01A34-9F20-B5DA-2BC9-B1F586460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3910A-54B1-4D3C-A2A9-7E10F7EFB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3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B71E0A-FC9E-5D46-9B52-C18F6663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3E8B51-EE87-AC97-1E32-A8F3FCE24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6B3EF3-0C96-A0DC-0877-5D40DC6FB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9931C-90C4-467F-BAFC-D3EDC66D2973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24B91-1518-5C44-BC46-EB73C305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79E5C-22C6-4C3D-7CB8-184589BEC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A1E1B-C7F4-4A50-98B3-223E588AACD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2266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8C62-F80C-A371-C2BD-6C076D83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763361-D924-7EB4-3862-C54680D30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550" y="0"/>
            <a:ext cx="12344150" cy="694727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10293D-2069-5EAC-EB81-09F6E10F5A5C}"/>
              </a:ext>
            </a:extLst>
          </p:cNvPr>
          <p:cNvSpPr txBox="1"/>
          <p:nvPr/>
        </p:nvSpPr>
        <p:spPr>
          <a:xfrm>
            <a:off x="711199" y="986117"/>
            <a:ext cx="3520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Session3 Group 3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图片 1056">
            <a:extLst>
              <a:ext uri="{FF2B5EF4-FFF2-40B4-BE49-F238E27FC236}">
                <a16:creationId xmlns:a16="http://schemas.microsoft.com/office/drawing/2014/main" id="{4110EC20-6E21-D540-04DF-AC143F915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496" r="20496"/>
          <a:stretch/>
        </p:blipFill>
        <p:spPr>
          <a:xfrm>
            <a:off x="0" y="10582"/>
            <a:ext cx="7701313" cy="7345372"/>
          </a:xfrm>
          <a:custGeom>
            <a:avLst/>
            <a:gdLst>
              <a:gd name="connsiteX0" fmla="*/ 0 w 7190324"/>
              <a:gd name="connsiteY0" fmla="*/ 0 h 6847417"/>
              <a:gd name="connsiteX1" fmla="*/ 7190324 w 7190324"/>
              <a:gd name="connsiteY1" fmla="*/ 0 h 6847417"/>
              <a:gd name="connsiteX2" fmla="*/ 6807200 w 7190324"/>
              <a:gd name="connsiteY2" fmla="*/ 1371178 h 6847417"/>
              <a:gd name="connsiteX3" fmla="*/ 5537200 w 7190324"/>
              <a:gd name="connsiteY3" fmla="*/ 6603578 h 6847417"/>
              <a:gd name="connsiteX4" fmla="*/ 5515998 w 7190324"/>
              <a:gd name="connsiteY4" fmla="*/ 6847417 h 6847417"/>
              <a:gd name="connsiteX5" fmla="*/ 0 w 7190324"/>
              <a:gd name="connsiteY5" fmla="*/ 6847417 h 684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90324" h="6847417">
                <a:moveTo>
                  <a:pt x="0" y="0"/>
                </a:moveTo>
                <a:lnTo>
                  <a:pt x="7190324" y="0"/>
                </a:lnTo>
                <a:lnTo>
                  <a:pt x="6807200" y="1371178"/>
                </a:lnTo>
                <a:lnTo>
                  <a:pt x="5537200" y="6603578"/>
                </a:lnTo>
                <a:lnTo>
                  <a:pt x="5515998" y="6847417"/>
                </a:lnTo>
                <a:lnTo>
                  <a:pt x="0" y="6847417"/>
                </a:lnTo>
                <a:close/>
              </a:path>
            </a:pathLst>
          </a:custGeom>
        </p:spPr>
      </p:pic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990B09E6-0559-EE5D-0EFC-B6CC3CC2F55F}"/>
              </a:ext>
            </a:extLst>
          </p:cNvPr>
          <p:cNvSpPr/>
          <p:nvPr/>
        </p:nvSpPr>
        <p:spPr>
          <a:xfrm>
            <a:off x="0" y="3830321"/>
            <a:ext cx="6210321" cy="3017097"/>
          </a:xfrm>
          <a:custGeom>
            <a:avLst/>
            <a:gdLst>
              <a:gd name="connsiteX0" fmla="*/ 0 w 6210321"/>
              <a:gd name="connsiteY0" fmla="*/ 0 h 3017097"/>
              <a:gd name="connsiteX1" fmla="*/ 6210321 w 6210321"/>
              <a:gd name="connsiteY1" fmla="*/ 0 h 3017097"/>
              <a:gd name="connsiteX2" fmla="*/ 5537200 w 6210321"/>
              <a:gd name="connsiteY2" fmla="*/ 2773258 h 3017097"/>
              <a:gd name="connsiteX3" fmla="*/ 5515998 w 6210321"/>
              <a:gd name="connsiteY3" fmla="*/ 3017097 h 3017097"/>
              <a:gd name="connsiteX4" fmla="*/ 0 w 6210321"/>
              <a:gd name="connsiteY4" fmla="*/ 3017097 h 30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0321" h="3017097">
                <a:moveTo>
                  <a:pt x="0" y="0"/>
                </a:moveTo>
                <a:lnTo>
                  <a:pt x="6210321" y="0"/>
                </a:lnTo>
                <a:lnTo>
                  <a:pt x="5537200" y="2773258"/>
                </a:lnTo>
                <a:lnTo>
                  <a:pt x="5515998" y="3017097"/>
                </a:lnTo>
                <a:lnTo>
                  <a:pt x="0" y="3017097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10000"/>
                </a:schemeClr>
              </a:gs>
              <a:gs pos="66000">
                <a:schemeClr val="bg2">
                  <a:lumMod val="10000"/>
                  <a:alpha val="70000"/>
                </a:schemeClr>
              </a:gs>
              <a:gs pos="0">
                <a:schemeClr val="bg2">
                  <a:lumMod val="10000"/>
                  <a:alpha val="0"/>
                </a:schemeClr>
              </a:gs>
            </a:gsLst>
            <a:lin ang="5400000" scaled="0"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11C41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D37AF08-B6FC-C2FD-AF6C-AD78CFA57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85" r="4985"/>
          <a:stretch/>
        </p:blipFill>
        <p:spPr>
          <a:xfrm>
            <a:off x="5561813" y="-21165"/>
            <a:ext cx="6686305" cy="6868583"/>
          </a:xfrm>
          <a:custGeom>
            <a:avLst/>
            <a:gdLst>
              <a:gd name="connsiteX0" fmla="*/ 1677283 w 6676003"/>
              <a:gd name="connsiteY0" fmla="*/ 0 h 6858000"/>
              <a:gd name="connsiteX1" fmla="*/ 6676003 w 6676003"/>
              <a:gd name="connsiteY1" fmla="*/ 0 h 6858000"/>
              <a:gd name="connsiteX2" fmla="*/ 6676003 w 6676003"/>
              <a:gd name="connsiteY2" fmla="*/ 6858000 h 6858000"/>
              <a:gd name="connsiteX3" fmla="*/ 0 w 6676003"/>
              <a:gd name="connsiteY3" fmla="*/ 6858000 h 6858000"/>
              <a:gd name="connsiteX4" fmla="*/ 21203 w 6676003"/>
              <a:gd name="connsiteY4" fmla="*/ 6614160 h 6858000"/>
              <a:gd name="connsiteX5" fmla="*/ 1291203 w 6676003"/>
              <a:gd name="connsiteY5" fmla="*/ 138176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76003" h="6858000">
                <a:moveTo>
                  <a:pt x="1677283" y="0"/>
                </a:moveTo>
                <a:lnTo>
                  <a:pt x="6676003" y="0"/>
                </a:lnTo>
                <a:lnTo>
                  <a:pt x="6676003" y="6858000"/>
                </a:lnTo>
                <a:lnTo>
                  <a:pt x="0" y="6858000"/>
                </a:lnTo>
                <a:lnTo>
                  <a:pt x="21203" y="6614160"/>
                </a:lnTo>
                <a:lnTo>
                  <a:pt x="1291203" y="1381760"/>
                </a:lnTo>
                <a:close/>
              </a:path>
            </a:pathLst>
          </a:cu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113E87C-9F85-DDFF-735E-6154C2C0C21A}"/>
              </a:ext>
            </a:extLst>
          </p:cNvPr>
          <p:cNvSpPr/>
          <p:nvPr/>
        </p:nvSpPr>
        <p:spPr>
          <a:xfrm>
            <a:off x="180725" y="4174944"/>
            <a:ext cx="1931481" cy="472496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/>
              </a:rPr>
              <a:t>What users see now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D0F5FA-2ED0-A429-9467-86224E55D762}"/>
              </a:ext>
            </a:extLst>
          </p:cNvPr>
          <p:cNvSpPr txBox="1"/>
          <p:nvPr/>
        </p:nvSpPr>
        <p:spPr>
          <a:xfrm>
            <a:off x="180725" y="4826211"/>
            <a:ext cx="1346202" cy="10237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rgbClr val="8996A8">
                    <a:lumMod val="20000"/>
                    <a:lumOff val="80000"/>
                  </a:srgbClr>
                </a:solidFill>
                <a:latin typeface="微软雅黑"/>
              </a:rPr>
              <a:t>Heart 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rgbClr val="8996A8">
                    <a:lumMod val="20000"/>
                    <a:lumOff val="80000"/>
                  </a:srgbClr>
                </a:solidFill>
                <a:latin typeface="微软雅黑"/>
              </a:rPr>
              <a:t>Steps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rgbClr val="8996A8">
                    <a:lumMod val="20000"/>
                    <a:lumOff val="80000"/>
                  </a:srgbClr>
                </a:solidFill>
                <a:latin typeface="微软雅黑"/>
              </a:rPr>
              <a:t>time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8996A8">
                  <a:lumMod val="20000"/>
                  <a:lumOff val="80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FC8D2FA-15BA-F53D-0D7F-C08220A38CFE}"/>
              </a:ext>
            </a:extLst>
          </p:cNvPr>
          <p:cNvSpPr/>
          <p:nvPr/>
        </p:nvSpPr>
        <p:spPr>
          <a:xfrm>
            <a:off x="5515997" y="2794423"/>
            <a:ext cx="6676003" cy="4063577"/>
          </a:xfrm>
          <a:custGeom>
            <a:avLst/>
            <a:gdLst>
              <a:gd name="connsiteX0" fmla="*/ 948324 w 6676003"/>
              <a:gd name="connsiteY0" fmla="*/ 0 h 4063577"/>
              <a:gd name="connsiteX1" fmla="*/ 6676003 w 6676003"/>
              <a:gd name="connsiteY1" fmla="*/ 0 h 4063577"/>
              <a:gd name="connsiteX2" fmla="*/ 6676003 w 6676003"/>
              <a:gd name="connsiteY2" fmla="*/ 4063577 h 4063577"/>
              <a:gd name="connsiteX3" fmla="*/ 0 w 6676003"/>
              <a:gd name="connsiteY3" fmla="*/ 4063577 h 4063577"/>
              <a:gd name="connsiteX4" fmla="*/ 21203 w 6676003"/>
              <a:gd name="connsiteY4" fmla="*/ 3819737 h 406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003" h="4063577">
                <a:moveTo>
                  <a:pt x="948324" y="0"/>
                </a:moveTo>
                <a:lnTo>
                  <a:pt x="6676003" y="0"/>
                </a:lnTo>
                <a:lnTo>
                  <a:pt x="6676003" y="4063577"/>
                </a:lnTo>
                <a:lnTo>
                  <a:pt x="0" y="4063577"/>
                </a:lnTo>
                <a:lnTo>
                  <a:pt x="21203" y="3819737"/>
                </a:lnTo>
                <a:close/>
              </a:path>
            </a:pathLst>
          </a:custGeom>
          <a:gradFill>
            <a:gsLst>
              <a:gs pos="42000">
                <a:schemeClr val="accent1">
                  <a:alpha val="56000"/>
                </a:schemeClr>
              </a:gs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5400000" scaled="0"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pic>
        <p:nvPicPr>
          <p:cNvPr id="4" name="图片 3" descr="查看图片">
            <a:extLst>
              <a:ext uri="{FF2B5EF4-FFF2-40B4-BE49-F238E27FC236}">
                <a16:creationId xmlns:a16="http://schemas.microsoft.com/office/drawing/2014/main" id="{42F8C37C-2BFC-222B-4FFE-F511D31BA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414"/>
          <a:stretch>
            <a:fillRect/>
          </a:stretch>
        </p:blipFill>
        <p:spPr bwMode="auto">
          <a:xfrm>
            <a:off x="3313320" y="10582"/>
            <a:ext cx="3925227" cy="6858000"/>
          </a:xfrm>
          <a:custGeom>
            <a:avLst/>
            <a:gdLst>
              <a:gd name="connsiteX0" fmla="*/ 0 w 3925227"/>
              <a:gd name="connsiteY0" fmla="*/ 0 h 6858000"/>
              <a:gd name="connsiteX1" fmla="*/ 3925227 w 3925227"/>
              <a:gd name="connsiteY1" fmla="*/ 0 h 6858000"/>
              <a:gd name="connsiteX2" fmla="*/ 3925227 w 3925227"/>
              <a:gd name="connsiteY2" fmla="*/ 6858000 h 6858000"/>
              <a:gd name="connsiteX3" fmla="*/ 0 w 39252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5227" h="6858000">
                <a:moveTo>
                  <a:pt x="0" y="0"/>
                </a:moveTo>
                <a:lnTo>
                  <a:pt x="3925227" y="0"/>
                </a:lnTo>
                <a:lnTo>
                  <a:pt x="392522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71B7B85-CB2D-7B2B-14E0-43A933048A78}"/>
              </a:ext>
            </a:extLst>
          </p:cNvPr>
          <p:cNvSpPr txBox="1"/>
          <p:nvPr/>
        </p:nvSpPr>
        <p:spPr>
          <a:xfrm>
            <a:off x="7180383" y="4997642"/>
            <a:ext cx="4668313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prstClr val="white"/>
                </a:solidFill>
                <a:latin typeface="微软雅黑"/>
              </a:rPr>
              <a:t>Muscle fatigue level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prstClr val="white"/>
                </a:solidFill>
                <a:latin typeface="微软雅黑"/>
              </a:rPr>
              <a:t>actionable alerts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prstClr val="white"/>
                </a:solidFill>
                <a:latin typeface="微软雅黑"/>
              </a:rPr>
              <a:t>Real-time AI analysis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40B6133-B3DF-24EE-B63E-DF268BBD549B}"/>
              </a:ext>
            </a:extLst>
          </p:cNvPr>
          <p:cNvSpPr/>
          <p:nvPr/>
        </p:nvSpPr>
        <p:spPr>
          <a:xfrm>
            <a:off x="7162799" y="4444758"/>
            <a:ext cx="2351741" cy="4724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/>
              </a:rPr>
              <a:t>What they actually need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65356C-75E7-FD4C-90E9-2E3F20F8432D}"/>
              </a:ext>
            </a:extLst>
          </p:cNvPr>
          <p:cNvSpPr txBox="1"/>
          <p:nvPr/>
        </p:nvSpPr>
        <p:spPr>
          <a:xfrm>
            <a:off x="180725" y="269511"/>
            <a:ext cx="11041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The Problem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3396E4-A097-BC68-5194-06B888CB8E74}"/>
              </a:ext>
            </a:extLst>
          </p:cNvPr>
          <p:cNvCxnSpPr>
            <a:cxnSpLocks/>
          </p:cNvCxnSpPr>
          <p:nvPr/>
        </p:nvCxnSpPr>
        <p:spPr>
          <a:xfrm>
            <a:off x="276972" y="882116"/>
            <a:ext cx="10801350" cy="0"/>
          </a:xfrm>
          <a:prstGeom prst="line">
            <a:avLst/>
          </a:prstGeom>
          <a:ln w="158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63AD209-06AE-2754-CE93-BA762612DC67}"/>
              </a:ext>
            </a:extLst>
          </p:cNvPr>
          <p:cNvSpPr/>
          <p:nvPr/>
        </p:nvSpPr>
        <p:spPr>
          <a:xfrm>
            <a:off x="2394283" y="2514594"/>
            <a:ext cx="6335059" cy="1355838"/>
          </a:xfrm>
          <a:prstGeom prst="rect">
            <a:avLst/>
          </a:prstGeo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13B217-B6E9-46D7-209F-6547662F2BA4}"/>
              </a:ext>
            </a:extLst>
          </p:cNvPr>
          <p:cNvSpPr txBox="1"/>
          <p:nvPr/>
        </p:nvSpPr>
        <p:spPr>
          <a:xfrm>
            <a:off x="2564756" y="2572594"/>
            <a:ext cx="5894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don’t know when my muscle is actually fatigued — I just guess.”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muscle-level feedback during exercise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0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decel="100000" fill="hold" grpId="0" nodeType="withEffect">
                                  <p:stCondLst>
                                    <p:cond delay="190"/>
                                  </p:stCondLst>
                                  <p:iterate type="lt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decel="100000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decel="100000" fill="hold" grpId="0" nodeType="withEffect">
                                  <p:stCondLst>
                                    <p:cond delay="475"/>
                                  </p:stCondLst>
                                  <p:iterate type="lt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9" grpId="0"/>
      <p:bldP spid="13" grpId="0"/>
      <p:bldP spid="23" grpId="0" animBg="1"/>
      <p:bldP spid="2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0FB99D2-2D35-D33E-5D5D-CCCE17FC11EC}"/>
              </a:ext>
            </a:extLst>
          </p:cNvPr>
          <p:cNvSpPr/>
          <p:nvPr/>
        </p:nvSpPr>
        <p:spPr>
          <a:xfrm>
            <a:off x="7532875" y="720751"/>
            <a:ext cx="5139765" cy="613724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44000"/>
                </a:schemeClr>
              </a:gs>
              <a:gs pos="51000">
                <a:schemeClr val="accent1">
                  <a:lumMod val="40000"/>
                  <a:lumOff val="60000"/>
                  <a:alpha val="71000"/>
                </a:schemeClr>
              </a:gs>
              <a:gs pos="95000">
                <a:schemeClr val="bg1">
                  <a:alpha val="88000"/>
                </a:schemeClr>
              </a:gs>
            </a:gsLst>
            <a:lin ang="108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359A580-B401-8B0E-8B5A-2B760C4FF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3912"/>
            <a:ext cx="8013514" cy="49265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6E340FC-D202-7E00-AE28-D98611B7A257}"/>
              </a:ext>
            </a:extLst>
          </p:cNvPr>
          <p:cNvSpPr txBox="1"/>
          <p:nvPr/>
        </p:nvSpPr>
        <p:spPr>
          <a:xfrm>
            <a:off x="575253" y="125335"/>
            <a:ext cx="11041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/>
                <a:cs typeface="+mn-cs"/>
              </a:rPr>
              <a:t>Our Solution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DC44BAE-B282-6945-8076-A37A6E6A6274}"/>
              </a:ext>
            </a:extLst>
          </p:cNvPr>
          <p:cNvCxnSpPr>
            <a:cxnSpLocks/>
          </p:cNvCxnSpPr>
          <p:nvPr/>
        </p:nvCxnSpPr>
        <p:spPr>
          <a:xfrm>
            <a:off x="695325" y="720752"/>
            <a:ext cx="1080135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37A3C82-85E4-6BB1-1F6D-9A2D185408E3}"/>
              </a:ext>
            </a:extLst>
          </p:cNvPr>
          <p:cNvSpPr txBox="1"/>
          <p:nvPr/>
        </p:nvSpPr>
        <p:spPr>
          <a:xfrm>
            <a:off x="8507038" y="1474509"/>
            <a:ext cx="34304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Noto Serif SC Black" panose="02020200000000000000" pitchFamily="18" charset="-122"/>
                <a:ea typeface="Noto Serif SC Black" panose="02020200000000000000" pitchFamily="18" charset="-122"/>
              </a:rPr>
              <a:t>VIT SMART turns complex body signals into clear training decisions.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EMG signal</a:t>
            </a:r>
          </a:p>
          <a:p>
            <a:endParaRPr lang="en-US" altLang="zh-CN" dirty="0">
              <a:solidFill>
                <a:schemeClr val="tx2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Pose context</a:t>
            </a:r>
          </a:p>
          <a:p>
            <a:endParaRPr lang="en-US" altLang="zh-CN" dirty="0">
              <a:solidFill>
                <a:schemeClr val="tx2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Fatigue</a:t>
            </a:r>
          </a:p>
          <a:p>
            <a:endParaRPr lang="en-US" altLang="zh-CN" dirty="0">
              <a:solidFill>
                <a:schemeClr val="tx2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AI guidance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314927-BC1C-F13E-6D0F-5EF97EFDE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859" y="4711380"/>
            <a:ext cx="2638144" cy="168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3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E7B4-75AB-875F-5DCD-8969A64E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E6D3CA5-F3E0-2543-CA57-6D7F7156F928}"/>
              </a:ext>
            </a:extLst>
          </p:cNvPr>
          <p:cNvSpPr/>
          <p:nvPr/>
        </p:nvSpPr>
        <p:spPr>
          <a:xfrm>
            <a:off x="0" y="3087077"/>
            <a:ext cx="12192000" cy="3770919"/>
          </a:xfrm>
          <a:prstGeom prst="rect">
            <a:avLst/>
          </a:prstGeom>
          <a:gradFill>
            <a:gsLst>
              <a:gs pos="16000">
                <a:schemeClr val="accent1">
                  <a:lumMod val="5000"/>
                  <a:lumOff val="95000"/>
                </a:schemeClr>
              </a:gs>
              <a:gs pos="53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061BEA-6294-DF77-FDBB-4808F1592C77}"/>
              </a:ext>
            </a:extLst>
          </p:cNvPr>
          <p:cNvSpPr txBox="1"/>
          <p:nvPr/>
        </p:nvSpPr>
        <p:spPr>
          <a:xfrm>
            <a:off x="575253" y="125335"/>
            <a:ext cx="11041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Key Design Decision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85C6749-0D6F-6154-5B70-22880CF55FFB}"/>
              </a:ext>
            </a:extLst>
          </p:cNvPr>
          <p:cNvCxnSpPr>
            <a:cxnSpLocks/>
          </p:cNvCxnSpPr>
          <p:nvPr/>
        </p:nvCxnSpPr>
        <p:spPr>
          <a:xfrm>
            <a:off x="695325" y="720752"/>
            <a:ext cx="1080135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365CEA94-405B-F93A-0E80-5896495BF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552" y="890623"/>
            <a:ext cx="5755123" cy="5809992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42DFA7-CF92-5720-9ED0-6D1F372E0201}"/>
              </a:ext>
            </a:extLst>
          </p:cNvPr>
          <p:cNvSpPr txBox="1"/>
          <p:nvPr/>
        </p:nvSpPr>
        <p:spPr>
          <a:xfrm>
            <a:off x="7891704" y="1867816"/>
            <a:ext cx="3128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/>
                </a:solidFill>
              </a:rPr>
              <a:t>Real-time EMG waveform for continuous signal monitoring</a:t>
            </a:r>
          </a:p>
          <a:p>
            <a:endParaRPr lang="en-US" altLang="zh-C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/>
                </a:solidFill>
              </a:rPr>
              <a:t>Short sliding window for fatigue classification</a:t>
            </a:r>
          </a:p>
          <a:p>
            <a:endParaRPr lang="en-US" altLang="zh-C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/>
                </a:solidFill>
              </a:rPr>
              <a:t>Stable and interpretable 3-state output</a:t>
            </a:r>
          </a:p>
          <a:p>
            <a:endParaRPr lang="en-US" altLang="zh-CN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/>
                </a:solidFill>
              </a:rPr>
              <a:t>Separation of </a:t>
            </a:r>
            <a:r>
              <a:rPr lang="en-US" altLang="zh-CN" dirty="0" err="1">
                <a:solidFill>
                  <a:schemeClr val="bg2"/>
                </a:solidFill>
              </a:rPr>
              <a:t>visualisation</a:t>
            </a:r>
            <a:r>
              <a:rPr lang="en-US" altLang="zh-CN" dirty="0">
                <a:solidFill>
                  <a:schemeClr val="bg2"/>
                </a:solidFill>
              </a:rPr>
              <a:t> and decision-making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72B80A-58BA-77AF-585B-D7820E959089}"/>
              </a:ext>
            </a:extLst>
          </p:cNvPr>
          <p:cNvSpPr txBox="1"/>
          <p:nvPr/>
        </p:nvSpPr>
        <p:spPr>
          <a:xfrm>
            <a:off x="7961701" y="1525769"/>
            <a:ext cx="167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System Design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C807BE-7C71-04E4-9791-B387F1175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6" y="1525769"/>
            <a:ext cx="7560863" cy="425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5F5F-9FA2-736A-AD19-722C403D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0BA8B48-EECA-3DAD-2D9E-6A7858E45D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27" y="987767"/>
            <a:ext cx="6329785" cy="279337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42691A4-75AB-4942-08AB-3E076219F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132" y="987767"/>
            <a:ext cx="6858594" cy="5505165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9F0F6CE8-89AE-DA84-E883-5354D1CEEE01}"/>
              </a:ext>
            </a:extLst>
          </p:cNvPr>
          <p:cNvSpPr txBox="1"/>
          <p:nvPr/>
        </p:nvSpPr>
        <p:spPr>
          <a:xfrm>
            <a:off x="586627" y="191727"/>
            <a:ext cx="11041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Validation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865B629-400C-EA25-4E12-26FA64A30B92}"/>
              </a:ext>
            </a:extLst>
          </p:cNvPr>
          <p:cNvCxnSpPr>
            <a:cxnSpLocks/>
          </p:cNvCxnSpPr>
          <p:nvPr/>
        </p:nvCxnSpPr>
        <p:spPr>
          <a:xfrm>
            <a:off x="695325" y="720752"/>
            <a:ext cx="712787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9CCA829-3709-3412-6DEF-1002F1661809}"/>
              </a:ext>
            </a:extLst>
          </p:cNvPr>
          <p:cNvSpPr txBox="1">
            <a:spLocks/>
          </p:cNvSpPr>
          <p:nvPr/>
        </p:nvSpPr>
        <p:spPr>
          <a:xfrm>
            <a:off x="7823201" y="1204930"/>
            <a:ext cx="3436470" cy="18379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637490"/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Before</a:t>
            </a:r>
          </a:p>
          <a:p>
            <a:pPr lvl="0">
              <a:defRPr/>
            </a:pPr>
            <a:endParaRPr lang="en-US" altLang="zh-C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Raw EMG values</a:t>
            </a:r>
          </a:p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350 / 420 / 510</a:t>
            </a:r>
          </a:p>
          <a:p>
            <a:pPr lvl="0">
              <a:defRPr/>
            </a:pPr>
            <a:endParaRPr lang="en-US" altLang="zh-C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Confusing &amp; No clear action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87DCD4-122E-34FD-8DB6-2B86EF92D611}"/>
              </a:ext>
            </a:extLst>
          </p:cNvPr>
          <p:cNvSpPr txBox="1">
            <a:spLocks/>
          </p:cNvSpPr>
          <p:nvPr/>
        </p:nvSpPr>
        <p:spPr>
          <a:xfrm>
            <a:off x="7882965" y="4266725"/>
            <a:ext cx="3376706" cy="213340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637490"/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After</a:t>
            </a:r>
          </a:p>
          <a:p>
            <a:pPr lvl="0">
              <a:defRPr/>
            </a:pPr>
            <a:endParaRPr lang="en-US" altLang="zh-C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3-State Feedback</a:t>
            </a:r>
          </a:p>
          <a:p>
            <a:pPr lvl="0">
              <a:defRPr/>
            </a:pPr>
            <a:endParaRPr lang="en-US" altLang="zh-C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Normal/High Load/Fatigue Risk</a:t>
            </a:r>
          </a:p>
          <a:p>
            <a:pPr lvl="0">
              <a:defRPr/>
            </a:pPr>
            <a:endParaRPr lang="en-US" altLang="zh-C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Clear decisions &amp; Faster response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B43D58BE-575C-49D3-2C2B-4D87F9432602}"/>
              </a:ext>
            </a:extLst>
          </p:cNvPr>
          <p:cNvSpPr/>
          <p:nvPr/>
        </p:nvSpPr>
        <p:spPr>
          <a:xfrm rot="5400000">
            <a:off x="9060329" y="3329755"/>
            <a:ext cx="986117" cy="627530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3B6F40-9CA3-C8E6-AB61-1B26634AEF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26" y="4136579"/>
            <a:ext cx="6329785" cy="258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4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DED8-6213-A716-FCF6-84F6E5AC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87618BA-100B-0185-128E-14DF74D3A89B}"/>
              </a:ext>
            </a:extLst>
          </p:cNvPr>
          <p:cNvGrpSpPr/>
          <p:nvPr/>
        </p:nvGrpSpPr>
        <p:grpSpPr>
          <a:xfrm>
            <a:off x="768354" y="5767916"/>
            <a:ext cx="2760197" cy="738664"/>
            <a:chOff x="768354" y="5767916"/>
            <a:chExt cx="2760197" cy="73866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DC42AF2-EFC9-8F03-E716-3BED913CC1D9}"/>
                </a:ext>
              </a:extLst>
            </p:cNvPr>
            <p:cNvSpPr/>
            <p:nvPr/>
          </p:nvSpPr>
          <p:spPr>
            <a:xfrm>
              <a:off x="901550" y="5779203"/>
              <a:ext cx="2579456" cy="67468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8000">
                  <a:schemeClr val="accent1"/>
                </a:gs>
                <a:gs pos="0">
                  <a:schemeClr val="accent2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E55EBBF-23D1-F217-AC21-DE65BCB0889B}"/>
                </a:ext>
              </a:extLst>
            </p:cNvPr>
            <p:cNvSpPr txBox="1"/>
            <p:nvPr/>
          </p:nvSpPr>
          <p:spPr>
            <a:xfrm>
              <a:off x="768354" y="5767916"/>
              <a:ext cx="276019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zh-CN" sz="1400" dirty="0">
                  <a:solidFill>
                    <a:srgbClr val="FFFF00"/>
                  </a:solidFill>
                  <a:latin typeface="微软雅黑"/>
                </a:rPr>
                <a:t>Current Limitation</a:t>
              </a:r>
            </a:p>
            <a:p>
              <a:pPr lvl="0" algn="ctr">
                <a:defRPr/>
              </a:pPr>
              <a:r>
                <a:rPr lang="en-US" altLang="zh-CN" sz="1400" dirty="0">
                  <a:solidFill>
                    <a:prstClr val="white"/>
                  </a:solidFill>
                  <a:latin typeface="微软雅黑"/>
                </a:rPr>
                <a:t>Signal stability during movement</a:t>
              </a:r>
              <a:endParaRPr lang="zh-CN" altLang="en-US" sz="1400" dirty="0">
                <a:solidFill>
                  <a:prstClr val="white"/>
                </a:solidFill>
                <a:latin typeface="微软雅黑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06653AF-5E7E-BE42-3523-8767AD575B59}"/>
                </a:ext>
              </a:extLst>
            </p:cNvPr>
            <p:cNvSpPr/>
            <p:nvPr/>
          </p:nvSpPr>
          <p:spPr>
            <a:xfrm>
              <a:off x="3270126" y="5795872"/>
              <a:ext cx="190208" cy="1785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56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1</a:t>
              </a:r>
              <a:endParaRPr kumimoji="0" lang="LID4096" sz="1000" b="0" i="0" u="none" strike="noStrike" kern="1200" cap="none" spc="0" normalizeH="0" baseline="0" noProof="0" dirty="0">
                <a:ln>
                  <a:noFill/>
                </a:ln>
                <a:solidFill>
                  <a:srgbClr val="00256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A39E838-00EC-67F9-9AC0-78F3F29BEEDF}"/>
              </a:ext>
            </a:extLst>
          </p:cNvPr>
          <p:cNvGrpSpPr/>
          <p:nvPr/>
        </p:nvGrpSpPr>
        <p:grpSpPr>
          <a:xfrm>
            <a:off x="4775360" y="5779203"/>
            <a:ext cx="2664025" cy="674687"/>
            <a:chOff x="4775360" y="5779203"/>
            <a:chExt cx="2664025" cy="674687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CFB4D7A-71BB-FA41-9DC9-E4FFB8B496CE}"/>
                </a:ext>
              </a:extLst>
            </p:cNvPr>
            <p:cNvSpPr/>
            <p:nvPr/>
          </p:nvSpPr>
          <p:spPr>
            <a:xfrm>
              <a:off x="4806272" y="5779203"/>
              <a:ext cx="2579456" cy="67468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8000">
                  <a:schemeClr val="accent1"/>
                </a:gs>
                <a:gs pos="0">
                  <a:schemeClr val="accent2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3A97E4F-311C-60FE-D56A-C08239FEC8AB}"/>
                </a:ext>
              </a:extLst>
            </p:cNvPr>
            <p:cNvSpPr txBox="1"/>
            <p:nvPr/>
          </p:nvSpPr>
          <p:spPr>
            <a:xfrm>
              <a:off x="4775360" y="5854936"/>
              <a:ext cx="26640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zh-CN" sz="1400" dirty="0">
                  <a:solidFill>
                    <a:srgbClr val="FFFF00"/>
                  </a:solidFill>
                  <a:latin typeface="微软雅黑"/>
                </a:rPr>
                <a:t>Next Step 1</a:t>
              </a:r>
            </a:p>
            <a:p>
              <a:pPr lvl="0" algn="ctr">
                <a:defRPr/>
              </a:pPr>
              <a:r>
                <a:rPr lang="en-US" altLang="zh-CN" sz="1400" dirty="0">
                  <a:solidFill>
                    <a:prstClr val="white"/>
                  </a:solidFill>
                  <a:latin typeface="微软雅黑"/>
                </a:rPr>
                <a:t>Refine fatigue feedback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0619DD9-02FB-A84E-1551-D05D6745EABC}"/>
                </a:ext>
              </a:extLst>
            </p:cNvPr>
            <p:cNvSpPr/>
            <p:nvPr/>
          </p:nvSpPr>
          <p:spPr>
            <a:xfrm>
              <a:off x="7174848" y="5795872"/>
              <a:ext cx="190208" cy="1785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56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2</a:t>
              </a:r>
              <a:endParaRPr kumimoji="0" lang="LID4096" sz="1000" b="0" i="0" u="none" strike="noStrike" kern="1200" cap="none" spc="0" normalizeH="0" baseline="0" noProof="0" dirty="0">
                <a:ln>
                  <a:noFill/>
                </a:ln>
                <a:solidFill>
                  <a:srgbClr val="00256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113596E-DC55-520E-4FCF-3C4A7509520B}"/>
              </a:ext>
            </a:extLst>
          </p:cNvPr>
          <p:cNvGrpSpPr/>
          <p:nvPr/>
        </p:nvGrpSpPr>
        <p:grpSpPr>
          <a:xfrm>
            <a:off x="8632537" y="5779203"/>
            <a:ext cx="2736369" cy="674687"/>
            <a:chOff x="8632537" y="5779203"/>
            <a:chExt cx="2736369" cy="67468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30BC0C2F-2637-88C0-AB99-BC4F7EC31F64}"/>
                </a:ext>
              </a:extLst>
            </p:cNvPr>
            <p:cNvSpPr/>
            <p:nvPr/>
          </p:nvSpPr>
          <p:spPr>
            <a:xfrm>
              <a:off x="8710994" y="5779203"/>
              <a:ext cx="2579456" cy="67468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8000">
                  <a:schemeClr val="accent1"/>
                </a:gs>
                <a:gs pos="0">
                  <a:schemeClr val="accent2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0F39405-FE16-DB6B-460C-4167F5848D0E}"/>
                </a:ext>
              </a:extLst>
            </p:cNvPr>
            <p:cNvSpPr txBox="1"/>
            <p:nvPr/>
          </p:nvSpPr>
          <p:spPr>
            <a:xfrm>
              <a:off x="8632537" y="5854936"/>
              <a:ext cx="27363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zh-CN" sz="1400" dirty="0">
                  <a:solidFill>
                    <a:srgbClr val="FFFF00"/>
                  </a:solidFill>
                  <a:latin typeface="微软雅黑"/>
                </a:rPr>
                <a:t>Next Step 2</a:t>
              </a:r>
            </a:p>
            <a:p>
              <a:pPr lvl="0" algn="ctr">
                <a:defRPr/>
              </a:pPr>
              <a:r>
                <a:rPr lang="en-US" altLang="zh-CN" sz="1400" dirty="0">
                  <a:solidFill>
                    <a:prstClr val="white"/>
                  </a:solidFill>
                  <a:latin typeface="微软雅黑"/>
                </a:rPr>
                <a:t>Test with more real users</a:t>
              </a:r>
              <a:endParaRPr lang="zh-CN" altLang="en-US" sz="1400" dirty="0">
                <a:solidFill>
                  <a:prstClr val="white"/>
                </a:solidFill>
                <a:latin typeface="微软雅黑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850AA13-AEF1-C4B4-CB53-EE5F3469F902}"/>
                </a:ext>
              </a:extLst>
            </p:cNvPr>
            <p:cNvSpPr/>
            <p:nvPr/>
          </p:nvSpPr>
          <p:spPr>
            <a:xfrm>
              <a:off x="11079569" y="5795872"/>
              <a:ext cx="190208" cy="1785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256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3</a:t>
              </a:r>
              <a:endParaRPr kumimoji="0" lang="LID4096" sz="1000" b="0" i="0" u="none" strike="noStrike" kern="1200" cap="none" spc="0" normalizeH="0" baseline="0" noProof="0" dirty="0">
                <a:ln>
                  <a:noFill/>
                </a:ln>
                <a:solidFill>
                  <a:srgbClr val="00256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3C66BF22-3AED-9A5D-76EA-4B35D6EF356A}"/>
              </a:ext>
            </a:extLst>
          </p:cNvPr>
          <p:cNvSpPr txBox="1"/>
          <p:nvPr/>
        </p:nvSpPr>
        <p:spPr>
          <a:xfrm>
            <a:off x="586627" y="191727"/>
            <a:ext cx="11041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11C41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Future Direction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11C41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862E426-4EAB-DEF1-4F0C-26831DB6A6F8}"/>
              </a:ext>
            </a:extLst>
          </p:cNvPr>
          <p:cNvCxnSpPr>
            <a:cxnSpLocks/>
          </p:cNvCxnSpPr>
          <p:nvPr/>
        </p:nvCxnSpPr>
        <p:spPr>
          <a:xfrm>
            <a:off x="695325" y="720752"/>
            <a:ext cx="1080135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E1ADD799-F6A8-E7ED-3142-F5F74A86AF9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88" b="10688"/>
          <a:stretch/>
        </p:blipFill>
        <p:spPr>
          <a:xfrm>
            <a:off x="232192" y="1380638"/>
            <a:ext cx="4599510" cy="3616296"/>
          </a:xfrm>
          <a:prstGeom prst="roundRect">
            <a:avLst>
              <a:gd name="adj" fmla="val 2045"/>
            </a:avLst>
          </a:prstGeom>
          <a:effectLst/>
          <a:scene3d>
            <a:camera prst="perspectiveRight">
              <a:rot lat="0" lon="19199988" rev="0"/>
            </a:camera>
            <a:lightRig rig="glow" dir="t"/>
          </a:scene3d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D5B3951-44CB-5808-B2E5-DA98133330C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2" r="14312"/>
          <a:stretch/>
        </p:blipFill>
        <p:spPr>
          <a:xfrm>
            <a:off x="7545425" y="1397307"/>
            <a:ext cx="4599510" cy="3616296"/>
          </a:xfrm>
          <a:prstGeom prst="roundRect">
            <a:avLst>
              <a:gd name="adj" fmla="val 2045"/>
            </a:avLst>
          </a:prstGeom>
          <a:effectLst/>
          <a:scene3d>
            <a:camera prst="perspectiveRight">
              <a:rot lat="0" lon="19199985" rev="0"/>
            </a:camera>
            <a:lightRig rig="glow" dir="t"/>
          </a:scene3d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0841AC5-BB50-CA94-7E03-CF5C01D58EFF}"/>
              </a:ext>
            </a:extLst>
          </p:cNvPr>
          <p:cNvSpPr/>
          <p:nvPr/>
        </p:nvSpPr>
        <p:spPr>
          <a:xfrm>
            <a:off x="-3801716" y="1374832"/>
            <a:ext cx="4599510" cy="3616296"/>
          </a:xfrm>
          <a:prstGeom prst="roundRect">
            <a:avLst>
              <a:gd name="adj" fmla="val 2045"/>
            </a:avLst>
          </a:prstGeom>
          <a:gradFill flip="none" rotWithShape="1">
            <a:gsLst>
              <a:gs pos="0">
                <a:schemeClr val="accent1">
                  <a:alpha val="29000"/>
                </a:schemeClr>
              </a:gs>
              <a:gs pos="21000">
                <a:schemeClr val="accent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  <a:effectLst/>
          <a:scene3d>
            <a:camera prst="perspectiveRight">
              <a:rot lat="0" lon="2399981" rev="0"/>
            </a:camera>
            <a:lightRig rig="glow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AB0DD97-90AD-75C4-7A1D-3BCFBFF3DAC5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" b="592"/>
          <a:stretch/>
        </p:blipFill>
        <p:spPr>
          <a:xfrm>
            <a:off x="3460334" y="1380638"/>
            <a:ext cx="4599510" cy="3616296"/>
          </a:xfrm>
          <a:prstGeom prst="roundRect">
            <a:avLst>
              <a:gd name="adj" fmla="val 2045"/>
            </a:avLst>
          </a:prstGeom>
          <a:effectLst/>
          <a:scene3d>
            <a:camera prst="perspectiveRight">
              <a:rot lat="0" lon="2399981" rev="0"/>
            </a:camera>
            <a:lightRig rig="glow" dir="t"/>
          </a:scene3d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381F615-D1C2-BCA1-C841-6583C81AB87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12"/>
          <a:stretch/>
        </p:blipFill>
        <p:spPr>
          <a:xfrm>
            <a:off x="4148265" y="1250707"/>
            <a:ext cx="840572" cy="3884623"/>
          </a:xfrm>
          <a:prstGeom prst="rect">
            <a:avLst/>
          </a:prstGeom>
        </p:spPr>
      </p:pic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0885BEC-23A8-265B-584D-C512649CCD03}"/>
              </a:ext>
            </a:extLst>
          </p:cNvPr>
          <p:cNvSpPr/>
          <p:nvPr/>
        </p:nvSpPr>
        <p:spPr>
          <a:xfrm>
            <a:off x="10803529" y="1380638"/>
            <a:ext cx="4599510" cy="3616296"/>
          </a:xfrm>
          <a:prstGeom prst="roundRect">
            <a:avLst>
              <a:gd name="adj" fmla="val 2045"/>
            </a:avLst>
          </a:prstGeom>
          <a:gradFill flip="none" rotWithShape="1">
            <a:gsLst>
              <a:gs pos="0">
                <a:schemeClr val="accent1">
                  <a:alpha val="29000"/>
                </a:schemeClr>
              </a:gs>
              <a:gs pos="21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  <a:scene3d>
            <a:camera prst="perspectiveRight">
              <a:rot lat="0" lon="2399981" rev="0"/>
            </a:camera>
            <a:lightRig rig="glow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89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875E-6 2.59259E-6 L -1.875E-6 0.05625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0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3.33333E-6 L 0 0.05625 " pathEditMode="relative" rAng="0" ptsTypes="AA">
                                      <p:cBhvr>
                                        <p:cTn id="14" dur="1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0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29167E-6 3.33333E-6 L -2.29167E-6 0.05625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accent1"/>
            </a:gs>
            <a:gs pos="8700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C8F12BA-0CC3-6990-3B84-4F754F53B626}"/>
              </a:ext>
            </a:extLst>
          </p:cNvPr>
          <p:cNvSpPr/>
          <p:nvPr/>
        </p:nvSpPr>
        <p:spPr>
          <a:xfrm>
            <a:off x="2362200" y="1549400"/>
            <a:ext cx="7467600" cy="2832100"/>
          </a:xfrm>
          <a:prstGeom prst="rect">
            <a:avLst/>
          </a:prstGeom>
          <a:noFill/>
          <a:ln w="117475" cap="flat" cmpd="sng" algn="ctr">
            <a:solidFill>
              <a:schemeClr val="accent2"/>
            </a:solidFill>
            <a:prstDash val="solid"/>
            <a:miter lim="800000"/>
          </a:ln>
          <a:effectLst>
            <a:outerShdw blurRad="101600" dist="342900" dir="8100000" algn="tr" rotWithShape="0">
              <a:schemeClr val="tx1">
                <a:alpha val="14000"/>
              </a:schemeClr>
            </a:outerShdw>
          </a:effectLst>
          <a:scene3d>
            <a:camera prst="orthographicFront"/>
            <a:lightRig rig="glow" dir="t">
              <a:rot lat="0" lon="0" rev="3000000"/>
            </a:lightRig>
          </a:scene3d>
          <a:sp3d>
            <a:bevelT w="12700" h="12700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500" b="0" i="0" u="none" strike="noStrike" kern="0" cap="none" spc="600" normalizeH="0" baseline="0" noProof="0" dirty="0">
                <a:ln>
                  <a:noFill/>
                </a:ln>
                <a:solidFill>
                  <a:srgbClr val="F5BB72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Q&amp;A</a:t>
            </a:r>
            <a:endParaRPr kumimoji="0" lang="LID4096" sz="11500" b="0" i="0" u="none" strike="noStrike" kern="0" cap="none" spc="600" normalizeH="0" baseline="0" noProof="0" dirty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921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002-多图-深蓝">
      <a:dk1>
        <a:srgbClr val="00144C"/>
      </a:dk1>
      <a:lt1>
        <a:sysClr val="window" lastClr="FFFFFF"/>
      </a:lt1>
      <a:dk2>
        <a:srgbClr val="4D88D7"/>
      </a:dk2>
      <a:lt2>
        <a:srgbClr val="E7E6E6"/>
      </a:lt2>
      <a:accent1>
        <a:srgbClr val="00256E"/>
      </a:accent1>
      <a:accent2>
        <a:srgbClr val="0A34BA"/>
      </a:accent2>
      <a:accent3>
        <a:srgbClr val="0064D2"/>
      </a:accent3>
      <a:accent4>
        <a:srgbClr val="1182FF"/>
      </a:accent4>
      <a:accent5>
        <a:srgbClr val="FFCD69"/>
      </a:accent5>
      <a:accent6>
        <a:srgbClr val="8996A8"/>
      </a:accent6>
      <a:hlink>
        <a:srgbClr val="0563C1"/>
      </a:hlink>
      <a:folHlink>
        <a:srgbClr val="954F72"/>
      </a:folHlink>
    </a:clrScheme>
    <a:fontScheme name="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主题​​">
  <a:themeElements>
    <a:clrScheme name="数据分析模板配色-蓝">
      <a:dk1>
        <a:sysClr val="windowText" lastClr="000000"/>
      </a:dk1>
      <a:lt1>
        <a:sysClr val="window" lastClr="FFFFFF"/>
      </a:lt1>
      <a:dk2>
        <a:srgbClr val="1D1D1D"/>
      </a:dk2>
      <a:lt2>
        <a:srgbClr val="E8E8E8"/>
      </a:lt2>
      <a:accent1>
        <a:srgbClr val="013B75"/>
      </a:accent1>
      <a:accent2>
        <a:srgbClr val="1B61A7"/>
      </a:accent2>
      <a:accent3>
        <a:srgbClr val="4F86BC"/>
      </a:accent3>
      <a:accent4>
        <a:srgbClr val="C59540"/>
      </a:accent4>
      <a:accent5>
        <a:srgbClr val="FBDC85"/>
      </a:accent5>
      <a:accent6>
        <a:srgbClr val="E9E3D5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</TotalTime>
  <Words>436</Words>
  <Application>Microsoft Office PowerPoint</Application>
  <PresentationFormat>宽屏</PresentationFormat>
  <Paragraphs>80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Noto Sans SC Black</vt:lpstr>
      <vt:lpstr>Noto Serif SC Black</vt:lpstr>
      <vt:lpstr>OPPO Sans</vt:lpstr>
      <vt:lpstr>等线</vt:lpstr>
      <vt:lpstr>等线 Light</vt:lpstr>
      <vt:lpstr>微软雅黑</vt:lpstr>
      <vt:lpstr>Aptos</vt:lpstr>
      <vt:lpstr>Aptos Display</vt:lpstr>
      <vt:lpstr>Arial</vt:lpstr>
      <vt:lpstr>Calibri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猫猫2</dc:creator>
  <cp:lastModifiedBy>peidong chen</cp:lastModifiedBy>
  <cp:revision>27</cp:revision>
  <dcterms:created xsi:type="dcterms:W3CDTF">2023-08-09T12:44:55Z</dcterms:created>
  <dcterms:modified xsi:type="dcterms:W3CDTF">2026-05-07T02:26:04Z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